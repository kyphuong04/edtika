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6E8F5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C9982E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STORIES WE ADMIRE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&amp; Grammar – Past Simple vs. Past Continuous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502920" cy="54864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12 – Global Success program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bài học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3796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1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19556" y="1920240"/>
            <a:ext cx="914400" cy="914400"/>
          </a:xfrm>
          <a:prstGeom prst="ellipse">
            <a:avLst/>
          </a:prstGeom>
          <a:solidFill>
            <a:srgbClr val="1F3A24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19556" y="2971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9556" y="352044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từ vựng chủ đề chiến tranh, y học,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ảnh, thơ ca &amp; 33 cụm từ/collocations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3076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1F4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88836" y="1920240"/>
            <a:ext cx="914400" cy="914400"/>
          </a:xfrm>
          <a:prstGeom prst="ellipse">
            <a:avLst/>
          </a:prstGeom>
          <a:solidFill>
            <a:srgbClr val="6E8F52"/>
          </a:solidFill>
          <a:ln/>
        </p:spPr>
      </p:sp>
      <p:sp>
        <p:nvSpPr>
          <p:cNvPr id="10" name="Text 8"/>
          <p:cNvSpPr/>
          <p:nvPr/>
        </p:nvSpPr>
        <p:spPr>
          <a:xfrm>
            <a:off x="6688836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688836" y="2971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88836" y="352044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Thì quá khứ đơn (Past Simple) và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thì quá khứ tiếp diễn (Past Continuous)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C9982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 – TỪ VỰNG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từ vựng trọng tâm của Unit 1, chia theo chủ đề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Chiến tranh &amp; Lòng dũng cảm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45752" y="384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1/6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8311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1005840"/>
                <a:gridCol w="40507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TỪ VỰNG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PHIÊN ÂM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LOẠI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NGHĨA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soldier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/ˈsəʊldʒə(r)/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lính, chiến sĩ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enemy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/ˈɛnəmi/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kẻ thù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jungle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/ˈdʒʌŋɡəl/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rừng nhiệt đới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resist (resistance, resistant)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/rɪˈzɪst/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chống lại, kháng cự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resistance war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/rɪˈzɪstəns wɔːr/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cuộc kháng chiến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national hero / heroic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/ˌnæʃənl ˈhɪəroʊ/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np / adj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anh hùng dân tộc / anh hùng, dũng cảm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defeat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/dɪˈfiːt/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v / 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đánh bại / sự thất bại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Bệnh viện dã chiến &amp; Y học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45752" y="384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2/6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8311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1005840"/>
                <a:gridCol w="40507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TỪ VỰNG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PHIÊN ÂM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LOẠI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NGHĨA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surgeon (surgery)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/ˈsɜːrdʒən/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bác sĩ phẫu thuật (ca phẫu thuật)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field hospital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/fiːld ˈhɒspɪtəl/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bệnh viện dã chiến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operate (operation, operational)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/ˈɒpəreɪt/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vận hành, phẫu thuật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biological (biology)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/ˌbaɪəˈlɒdʒɪkəl/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adj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thuộc về sinh học (sinh học)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biological parents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/ˌbaɪəˈlɒdʒɪkəl ˈperənts/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cha mẹ ruột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pancreatic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/ˌpæŋkrɪˈætɪk/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adj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(thuộc) tuyến tụy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cutting-edge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/ˌkʌtɪŋ ˈɛdʒ/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adj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tiên tiến, hiện đại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Trải nghiệm &amp; Câu chuyện cá nhân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45752" y="384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3/6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8311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1005840"/>
                <a:gridCol w="40507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TỪ VỰNG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PHIÊN ÂM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LOẠI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NGHĨA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account / personal account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/əˈkaʊnt/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 / np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sự tường thuật / câu chuyện cá nhân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experience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/ɪkˈspɪərɪəns/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kinh nghiệm, trải nghiệm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determination (determine, determined)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/dɪˌtɜːrmɪˈneɪʃən/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sự quyết tâm (quyết định; quyết tâm)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ambitious (ambition)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/æmˈbɪʃəs/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adj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đầy tham vọng (tham vọng)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admire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/ədˈmaɪər/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ngưỡng mộ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respect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/rɪˈspekt/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 / 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sự tôn trọng / tôn trọng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famous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/ˈfeɪməs/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adj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nổi tiếng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Điện ảnh &amp; Nghệ thuật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45752" y="384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4/6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8311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1005840"/>
                <a:gridCol w="40507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TỪ VỰNG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PHIÊN ÂM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LOẠI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NGHĨA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animation (animate)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/ˌænɪˈmeɪʃən/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hoạt hình (làm cho sinh động)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computer-animated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/kəmˈpjuːtər ˈænɪmeɪtɪd/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adj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hoạt hình máy tính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full-length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/ˌfʊlˈlɛŋθ/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adj/adv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toàn bộ thời lượng; dài bằng thân người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blockbuster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/ˈblɑːkbʌstər/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bom tấn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film industry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/fɪlm ˈɪndəstri/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ngành điện ảnh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theme park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/ˈθiːm pɑːrk/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công viên giải trí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character (characterize)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/ˈkærɪktər/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nhân vật (mô tả đặc trưng)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Thơ ca, Cảm hứng &amp; Tầm nhìn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45752" y="384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5/6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8311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1005840"/>
                <a:gridCol w="40507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TỪ VỰNG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PHIÊN ÂM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LOẠI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NGHĨA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poem / poetry / poet / poetic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/poʊəm/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 / adj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bài thơ / thơ ca / nhà thơ / thơ mộng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inspiring (inspire)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/ɪnˈspaɪrɪŋ/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adj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truyền cảm hứng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visionary (vision)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/ˈvɪʒəneri/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adj / 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có tầm nhìn (tầm nhìn)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genius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/ˈdʒiːniəs/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thiên tài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magical (magic)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/ˈmædʒɪkəl/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adj / 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huyền diệu (phép thuật)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innovation (innovative)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/ˌɪnəˈveɪʃən/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 / adj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sự đổi mới (mang tính đổi mới)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presentation (present)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/ˌprɛzənˈteɪʃən/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 / 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bài thuyết trình (trình bày)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Thành công &amp; Cống hiến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445752" y="384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6/6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8311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1005840"/>
                <a:gridCol w="40507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TỪ VỰNG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PHIÊN ÂM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LOẠI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NGHĨA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devote (devotion, devoted)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/dɪˈvəʊt/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cống hiến (sự cống hiến; tận tâm)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succeed (success, successful)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/səkˈsiːd/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thành công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popular (popularity, unpopular…)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/ˈpɑːpjʊlər/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adj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phổ biến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collaborate (collaboration)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/kəˈlæbəreɪt/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cộng tác (sự cộng tác)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surprise (surprising, surprisingly)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/sərˈpraɪz/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sự ngạc nhiên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base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/beɪs/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dựa vào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301C"/>
                          </a:solidFill>
                        </a:rPr>
                        <a:t>guitar (guitarist)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B6B52"/>
                          </a:solidFill>
                        </a:rPr>
                        <a:t>/ɡɪˈtɑːr/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F52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301C"/>
                          </a:solidFill>
                        </a:rPr>
                        <a:t>đàn ghita (người chơi đàn ghita)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C9982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A (tiếp theo)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STRUCTURES – CỤM TỪ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cấu trúc &amp; cụm động từ thường gặp trong Unit 1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Cụm từ về hành trình cá nhân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45752" y="384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1/5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9786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to do sth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nguyện làm việc gì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2374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age of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ở độ tuổi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962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as sth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công việc gì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120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7550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school/college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71500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học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19786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happy/difficult childhood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173736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tuổi thơ hạnh phúc/khó khăn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52374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out (of)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học, bỏ cuộc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3794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84962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give/put sb up for adoption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38912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ai cho người khác nuôi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5120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17550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adopted by sb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571500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ai đó nhận nuôi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Cụm từ về tình cảm &amp; sự cống hiến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45752" y="384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2/5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9786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show/express one's love for sb/sth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 hiện tình yêu dành cho ai/cái gì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2374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one's duty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hiện nghĩa vụ, bổn phận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962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 one's life to sth/doing sth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cống hiến cả cuộc đời cho việc gì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120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7550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devoted to sth/sb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71500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tận tâm với ai/cái gì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19786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long/happy marriage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173736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cuộc hôn nhân lâu dài/hạnh phúc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52374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over sth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bó với nhau vì điều gì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3794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84962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care of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38912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chăm sóc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5120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17550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for sb/sth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571500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tôn trọng dành cho ai/cái gì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Cụm từ về khó khăn &amp; vượt qua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45752" y="384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3/5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9786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sb/sth from sb/sth/doing sth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cứu ai/cái gì khỏi ai/điều gì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2374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one's life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cứu mạng sống của ai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962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diagnosed with sth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chẩn đoán mắc bệnh gì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120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7550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away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71500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đời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19786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do sth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173736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chối làm việc gì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52374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up / give up on sb/sth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bỏ / từ bỏ ai, điều gì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3794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84962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famous for sth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38912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nổi tiếng vì điều gì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5120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17550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admired for sth/doing sth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571500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ngưỡng mộ vì điều gì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Cụm từ về thành tựu &amp; công việc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45752" y="384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4/5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9786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doing sth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việc gì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2374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hành, thực hiện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962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based on sth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 trên điều gì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120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7550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record for sth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71500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kỉ lục về điều gì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19786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films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173736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phim, quay phim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52374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 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gia vào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3794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84962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sth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38912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cho điều gì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5120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1F4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175504"/>
            <a:ext cx="498348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 in sth / be successful in sth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5715000"/>
            <a:ext cx="4983480" cy="570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công trong việc gì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Cụm từ khác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445752" y="384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5/5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1630680"/>
          </a:xfrm>
          <a:prstGeom prst="roundRect">
            <a:avLst>
              <a:gd name="adj" fmla="val 4486"/>
            </a:avLst>
          </a:prstGeom>
          <a:solidFill>
            <a:srgbClr val="F1F4E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97864"/>
            <a:ext cx="10698480" cy="8968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translated into sth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58340"/>
            <a:ext cx="10698480" cy="7827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dịch sang ngôn ngữ khác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910840"/>
            <a:ext cx="11155680" cy="1630680"/>
          </a:xfrm>
          <a:prstGeom prst="roundRect">
            <a:avLst>
              <a:gd name="adj" fmla="val 4486"/>
            </a:avLst>
          </a:prstGeom>
          <a:solidFill>
            <a:srgbClr val="F1F4E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65704"/>
            <a:ext cx="10698480" cy="8968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accessible to sb/sth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26180"/>
            <a:ext cx="10698480" cy="7827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tiếp cận được với ai/cái gì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678680"/>
            <a:ext cx="11155680" cy="1630680"/>
          </a:xfrm>
          <a:prstGeom prst="roundRect">
            <a:avLst>
              <a:gd name="adj" fmla="val 4486"/>
            </a:avLst>
          </a:prstGeom>
          <a:solidFill>
            <a:srgbClr val="F1F4E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733544"/>
            <a:ext cx="10698480" cy="8968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on sb/sth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494020"/>
            <a:ext cx="10698480" cy="7827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phẫu thuật cho ai/cái gì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C9982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– NGỮ PHÁP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Thì quá khứ đơn (Past Simple) &amp; Thì quá khứ tiếp diễn (Past Continuous)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THÌ QUÁ KHỨ ĐƠN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dùng (Usage)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1F3A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48132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tả hành động đã xảy ra và đã chấm dứt trong quá khứ, không còn liên quan tới hiện tại.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F3A2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44144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tả các hành động xảy ra nối tiếp nhau trong quá khứ.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1F3A2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40156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tả hồi ức, kỉ niệm.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0" y="1554480"/>
            <a:ext cx="3703320" cy="4480560"/>
          </a:xfrm>
          <a:prstGeom prst="roundRect">
            <a:avLst>
              <a:gd name="adj" fmla="val 2469"/>
            </a:avLst>
          </a:prstGeom>
          <a:solidFill>
            <a:srgbClr val="1F3A2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DẤU HIỆU NHẬN BIẾT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28600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+ night/year/month/…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+ mốc thời gian trong quá khứ (in 2000…)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</a:t>
            </a:r>
            <a:pPr indent="0" marL="0">
              <a:buNone/>
            </a:pPr>
            <a:r>
              <a:rPr lang="en-US" sz="1450" i="1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fought bravely in the jungle last year.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THÌ QUÁ KHỨ ĐƠN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thức (Form)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3891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Câu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Công thức (Be: was/were)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Công thức (V thường)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301C"/>
                          </a:solidFill>
                        </a:rPr>
                        <a:t>Khẳng định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01C"/>
                          </a:solidFill>
                        </a:rPr>
                        <a:t>S + was/were + …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01C"/>
                          </a:solidFill>
                        </a:rPr>
                        <a:t>S + V-ed / V2 + …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301C"/>
                          </a:solidFill>
                        </a:rPr>
                        <a:t>Phủ định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01C"/>
                          </a:solidFill>
                        </a:rPr>
                        <a:t>S + was/were + not + …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01C"/>
                          </a:solidFill>
                        </a:rPr>
                        <a:t>S + did not + V (nguyên thể)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4301C"/>
                          </a:solidFill>
                        </a:rPr>
                        <a:t>Nghi vấn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01C"/>
                          </a:solidFill>
                        </a:rPr>
                        <a:t>Was/Were + S + …?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01C"/>
                          </a:solidFill>
                        </a:rPr>
                        <a:t>Did + S + V (nguyên thể) + …?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463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1F4E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983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 </a:t>
            </a:r>
            <a:pPr indent="0" marL="0">
              <a:buNone/>
            </a:pPr>
            <a:r>
              <a:rPr lang="en-US" sz="1500" i="1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performed a life-saving surgery two weeks ago in the field hospital.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5440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resistance fighters </a:t>
            </a:r>
            <a:pPr indent="0" marL="0">
              <a:buNone/>
            </a:pPr>
            <a:r>
              <a:rPr lang="en-US" sz="15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give up</a:t>
            </a:r>
            <a:pPr indent="0" marL="0">
              <a:buNone/>
            </a:pPr>
            <a:r>
              <a:rPr lang="en-US" sz="1500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 in the toughest situations.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THÌ QUÁ KHỨ TIẾP DIỄN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dùng &amp; Công thức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6E8F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481328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hành động đang xảy ra tại một thời điểm cụ thể trong quá khứ.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6E8F5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395728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(background) của một câu chuyện.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1: </a:t>
            </a:r>
            <a:pPr indent="0" marL="0">
              <a:buNone/>
            </a:pPr>
            <a:r>
              <a:rPr lang="en-US" sz="1450" i="1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reading a good book at 10 p.m. last night.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2: </a:t>
            </a:r>
            <a:pPr indent="0" marL="0">
              <a:buNone/>
            </a:pPr>
            <a:r>
              <a:rPr lang="en-US" sz="1450" i="1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raining heavily outside. Mary read a few pages of her book and went to bed.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55280" y="1554480"/>
            <a:ext cx="3703320" cy="4480560"/>
          </a:xfrm>
          <a:prstGeom prst="roundRect">
            <a:avLst>
              <a:gd name="adj" fmla="val 2469"/>
            </a:avLst>
          </a:prstGeom>
          <a:solidFill>
            <a:srgbClr val="1F3A2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Khẳng định: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was/were + V-ing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3337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Phủ định: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+ was/were + not + V-ing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4389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 vấn: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Was/Were + S + V-ing?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Simple vs. Past Continuous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1F4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36192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 + Past Continuous + when + S₂ + Past Simple</a:t>
            </a:r>
            <a:endParaRPr lang="en-US" sz="17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having dinner with my family when the lights went out.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1F4E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24912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+ S₁ + Past Continuous, S₂ + Past Continuous</a:t>
            </a:r>
            <a:endParaRPr lang="en-US" sz="1700" dirty="0"/>
          </a:p>
          <a:p>
            <a:pPr indent="0" marL="0">
              <a:buNone/>
            </a:pPr>
            <a:r>
              <a:rPr lang="en-US" sz="1400" i="1" dirty="0">
                <a:solidFill>
                  <a:srgbClr val="24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my father was reading a book, my mother was cooking dinner.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3840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nhớ: hành động NGẮN hơn / xen vào → Past Simple; hành động DÀI hơn, đang diễn ra → Past Continuous.</a:t>
            </a:r>
            <a:endParaRPr lang="en-US" sz="14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57200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63440"/>
                <a:gridCol w="4663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Past Simple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Past Continuous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F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4301C"/>
                          </a:solidFill>
                        </a:rPr>
                        <a:t>Diễn tả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301C"/>
                          </a:solidFill>
                        </a:rPr>
                        <a:t>Hành động đã hoàn tất trong quá khứ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4301C"/>
                          </a:solidFill>
                        </a:rPr>
                        <a:t>Hành động đang xảy ra tại 1 thời điểm cụ thể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4301C"/>
                          </a:solidFill>
                        </a:rPr>
                        <a:t>Ví dụ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24301C"/>
                          </a:solidFill>
                        </a:rPr>
                        <a:t>I bought that car last year.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24301C"/>
                          </a:solidFill>
                        </a:rPr>
                        <a:t>I was reading a good book at 10 p.m.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Life Stories We Admire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902952" y="6446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4023360" cy="4023360"/>
          </a:xfrm>
          <a:prstGeom prst="ellipse">
            <a:avLst/>
          </a:prstGeom>
          <a:solidFill>
            <a:srgbClr val="C9982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9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BÀI HỌC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nhớ nhanh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365760" cy="365760"/>
          </a:xfrm>
          <a:prstGeom prst="ellipse">
            <a:avLst/>
          </a:prstGeom>
          <a:solidFill>
            <a:srgbClr val="C998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02996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từ vựng chủ đề: chiến tranh – kháng chiến, y học – phẫu thuật, điện ảnh – hoạt hình, thơ ca – cảm hứng.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365760" cy="365760"/>
          </a:xfrm>
          <a:prstGeom prst="ellipse">
            <a:avLst/>
          </a:prstGeom>
          <a:solidFill>
            <a:srgbClr val="C998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8072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cấu trúc/collocations thường dùng với be admired for, devote…to, succeed in, be based on, v.v.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657600"/>
            <a:ext cx="365760" cy="365760"/>
          </a:xfrm>
          <a:prstGeom prst="ellipse">
            <a:avLst/>
          </a:prstGeom>
          <a:solidFill>
            <a:srgbClr val="C998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58444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Simple: hành động đã kết thúc trong quá khứ – dấu hiệu ago, last…, yesterday, in + năm.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4434840"/>
            <a:ext cx="365760" cy="365760"/>
          </a:xfrm>
          <a:prstGeom prst="ellipse">
            <a:avLst/>
          </a:prstGeom>
          <a:solidFill>
            <a:srgbClr val="C9982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36168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Continuous: hành động đang diễn ra tại một thời điểm cụ thể hoặc làm bối cảnh cho câu chuyện.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5212080"/>
            <a:ext cx="365760" cy="365760"/>
          </a:xfrm>
          <a:prstGeom prst="ellipse">
            <a:avLst/>
          </a:prstGeom>
          <a:solidFill>
            <a:srgbClr val="C9982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1389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hai thì với when / while để kể lại một câu chuyện quá khứ mạch lạc.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1 - Life Stories We Admire</dc:title>
  <dc:subject>PptxGenJS Presentation</dc:subject>
  <dc:creator>English 12</dc:creator>
  <cp:lastModifiedBy>English 12</cp:lastModifiedBy>
  <cp:revision>1</cp:revision>
  <dcterms:created xsi:type="dcterms:W3CDTF">2026-07-09T09:43:21Z</dcterms:created>
  <dcterms:modified xsi:type="dcterms:W3CDTF">2026-07-09T09:43:21Z</dcterms:modified>
</cp:coreProperties>
</file>